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2" r:id="rId3"/>
    <p:sldId id="265" r:id="rId4"/>
    <p:sldId id="266" r:id="rId5"/>
    <p:sldId id="264" r:id="rId6"/>
    <p:sldId id="256" r:id="rId7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96" y="7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237CB-87C3-4D52-92BB-84E27F5ACBC1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EF56-E9D3-4E4A-8644-4906877CE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609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237CB-87C3-4D52-92BB-84E27F5ACBC1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EF56-E9D3-4E4A-8644-4906877CE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914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237CB-87C3-4D52-92BB-84E27F5ACBC1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EF56-E9D3-4E4A-8644-4906877CE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874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237CB-87C3-4D52-92BB-84E27F5ACBC1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EF56-E9D3-4E4A-8644-4906877CE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1050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237CB-87C3-4D52-92BB-84E27F5ACBC1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EF56-E9D3-4E4A-8644-4906877CE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684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237CB-87C3-4D52-92BB-84E27F5ACBC1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EF56-E9D3-4E4A-8644-4906877CE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923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237CB-87C3-4D52-92BB-84E27F5ACBC1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EF56-E9D3-4E4A-8644-4906877CE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645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237CB-87C3-4D52-92BB-84E27F5ACBC1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EF56-E9D3-4E4A-8644-4906877CE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635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237CB-87C3-4D52-92BB-84E27F5ACBC1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EF56-E9D3-4E4A-8644-4906877CE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561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237CB-87C3-4D52-92BB-84E27F5ACBC1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EF56-E9D3-4E4A-8644-4906877CE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080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237CB-87C3-4D52-92BB-84E27F5ACBC1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9EF56-E9D3-4E4A-8644-4906877CE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53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237CB-87C3-4D52-92BB-84E27F5ACBC1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79EF56-E9D3-4E4A-8644-4906877CE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330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				Prolog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err="1">
                <a:latin typeface="Arial" panose="020B0604020202020204" pitchFamily="34" charset="0"/>
              </a:rPr>
              <a:t>Prolog</a:t>
            </a:r>
            <a:r>
              <a:rPr lang="en-IN" dirty="0">
                <a:latin typeface="Arial" panose="020B0604020202020204" pitchFamily="34" charset="0"/>
              </a:rPr>
              <a:t> stands for programming in logic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6425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120" y="-165022"/>
            <a:ext cx="10515600" cy="1325563"/>
          </a:xfrm>
        </p:spPr>
        <p:txBody>
          <a:bodyPr/>
          <a:lstStyle/>
          <a:p>
            <a:r>
              <a:rPr lang="en-US" dirty="0" smtClean="0"/>
              <a:t>			Prolog – Get Started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815" y="1160541"/>
            <a:ext cx="10515600" cy="5861431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Install </a:t>
            </a:r>
            <a:r>
              <a:rPr lang="en-US" dirty="0" err="1" smtClean="0"/>
              <a:t>swi</a:t>
            </a:r>
            <a:r>
              <a:rPr lang="en-US" dirty="0" smtClean="0"/>
              <a:t>-prolog</a:t>
            </a:r>
          </a:p>
          <a:p>
            <a:r>
              <a:rPr lang="en-US" dirty="0" smtClean="0"/>
              <a:t>Write the prolog clauses on a notepad and save it as file.pl (NB: choose save as type: 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Open </a:t>
            </a:r>
            <a:r>
              <a:rPr lang="en-US" dirty="0" err="1" smtClean="0"/>
              <a:t>swi</a:t>
            </a:r>
            <a:r>
              <a:rPr lang="en-US" dirty="0" smtClean="0"/>
              <a:t>-prolog -&gt; file -&gt; consult (choose the file.pl).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Enter your queries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407" y="2322132"/>
            <a:ext cx="5915025" cy="10763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0407" y="3852912"/>
            <a:ext cx="4895850" cy="2275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59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14400" y="1138535"/>
            <a:ext cx="6096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Ex1</a:t>
            </a:r>
          </a:p>
          <a:p>
            <a:r>
              <a:rPr lang="en-US" b="1" dirty="0" smtClean="0"/>
              <a:t>Consult likes.pl</a:t>
            </a:r>
            <a:endParaRPr lang="en-IN" b="1" dirty="0" smtClean="0"/>
          </a:p>
          <a:p>
            <a:r>
              <a:rPr lang="en-IN" dirty="0" smtClean="0"/>
              <a:t>likes(john</a:t>
            </a:r>
            <a:r>
              <a:rPr lang="en-IN" dirty="0"/>
              <a:t>, pizza). </a:t>
            </a:r>
            <a:endParaRPr lang="en-IN" dirty="0" smtClean="0"/>
          </a:p>
          <a:p>
            <a:r>
              <a:rPr lang="en-IN" dirty="0" smtClean="0"/>
              <a:t>likes(john</a:t>
            </a:r>
            <a:r>
              <a:rPr lang="en-IN" dirty="0"/>
              <a:t>, pasta). </a:t>
            </a:r>
            <a:endParaRPr lang="en-IN" dirty="0" smtClean="0"/>
          </a:p>
          <a:p>
            <a:r>
              <a:rPr lang="en-IN" dirty="0" smtClean="0"/>
              <a:t>likes(</a:t>
            </a:r>
            <a:r>
              <a:rPr lang="en-IN" dirty="0" err="1" smtClean="0"/>
              <a:t>mary</a:t>
            </a:r>
            <a:r>
              <a:rPr lang="en-IN" dirty="0"/>
              <a:t>, sushi). </a:t>
            </a:r>
            <a:endParaRPr lang="en-IN" dirty="0" smtClean="0"/>
          </a:p>
          <a:p>
            <a:r>
              <a:rPr lang="en-IN" dirty="0" smtClean="0"/>
              <a:t>likes(</a:t>
            </a:r>
            <a:r>
              <a:rPr lang="en-IN" dirty="0" err="1" smtClean="0"/>
              <a:t>mary</a:t>
            </a:r>
            <a:r>
              <a:rPr lang="en-IN" dirty="0"/>
              <a:t>, pizza). </a:t>
            </a:r>
            <a:endParaRPr lang="en-IN" dirty="0" smtClean="0"/>
          </a:p>
          <a:p>
            <a:r>
              <a:rPr lang="en-IN" dirty="0" smtClean="0"/>
              <a:t>likes(X</a:t>
            </a:r>
            <a:r>
              <a:rPr lang="en-IN" dirty="0"/>
              <a:t>, Y) :- likes(X, Z), likes(Z, Y</a:t>
            </a:r>
            <a:r>
              <a:rPr lang="en-IN" dirty="0" smtClean="0"/>
              <a:t>).    </a:t>
            </a:r>
            <a:r>
              <a:rPr lang="en-IN" dirty="0"/>
              <a:t>% A simple </a:t>
            </a:r>
            <a:r>
              <a:rPr lang="en-IN" dirty="0" smtClean="0"/>
              <a:t>rule</a:t>
            </a:r>
          </a:p>
          <a:p>
            <a:endParaRPr lang="en-US" dirty="0" smtClean="0"/>
          </a:p>
          <a:p>
            <a:r>
              <a:rPr lang="en-IN" dirty="0" smtClean="0"/>
              <a:t>grandfather(X</a:t>
            </a:r>
            <a:r>
              <a:rPr lang="en-IN" dirty="0"/>
              <a:t>, Y) :- </a:t>
            </a:r>
            <a:r>
              <a:rPr lang="en-IN" dirty="0" smtClean="0"/>
              <a:t>father(X</a:t>
            </a:r>
            <a:r>
              <a:rPr lang="en-IN" dirty="0"/>
              <a:t>, Z), </a:t>
            </a:r>
            <a:r>
              <a:rPr lang="en-IN" dirty="0" smtClean="0"/>
              <a:t>parent(Z</a:t>
            </a:r>
            <a:r>
              <a:rPr lang="en-IN" dirty="0"/>
              <a:t>, Y).    % A simple rule</a:t>
            </a:r>
          </a:p>
          <a:p>
            <a:endParaRPr lang="en-IN" dirty="0" smtClean="0"/>
          </a:p>
          <a:p>
            <a:endParaRPr lang="en-US" dirty="0" smtClean="0"/>
          </a:p>
          <a:p>
            <a:r>
              <a:rPr lang="en-US" dirty="0" smtClean="0"/>
              <a:t>?-listing(likes</a:t>
            </a:r>
            <a:r>
              <a:rPr lang="en-US" dirty="0" smtClean="0"/>
              <a:t>) % to view contents</a:t>
            </a:r>
          </a:p>
          <a:p>
            <a:r>
              <a:rPr lang="en-IN" dirty="0" smtClean="0"/>
              <a:t>?-</a:t>
            </a:r>
            <a:r>
              <a:rPr lang="en-IN" dirty="0"/>
              <a:t>write('\33\[2J</a:t>
            </a:r>
            <a:r>
              <a:rPr lang="en-IN" dirty="0" smtClean="0"/>
              <a:t>'). %</a:t>
            </a:r>
            <a:r>
              <a:rPr lang="en-US" dirty="0" smtClean="0"/>
              <a:t> </a:t>
            </a:r>
            <a:r>
              <a:rPr lang="en-US" dirty="0"/>
              <a:t>To clear a screen</a:t>
            </a:r>
            <a:endParaRPr lang="en-IN" dirty="0"/>
          </a:p>
          <a:p>
            <a:endParaRPr lang="en-US" dirty="0"/>
          </a:p>
          <a:p>
            <a:r>
              <a:rPr lang="en-IN" dirty="0"/>
              <a:t>?- likes(</a:t>
            </a:r>
            <a:r>
              <a:rPr lang="en-IN" dirty="0" err="1"/>
              <a:t>mary</a:t>
            </a:r>
            <a:r>
              <a:rPr lang="en-IN" dirty="0"/>
              <a:t>, X</a:t>
            </a:r>
            <a:r>
              <a:rPr lang="en-IN" dirty="0" smtClean="0"/>
              <a:t>). % to </a:t>
            </a:r>
            <a:r>
              <a:rPr lang="en-IN" dirty="0" smtClean="0"/>
              <a:t>query NB: X is in capital only??</a:t>
            </a:r>
            <a:endParaRPr lang="en-IN" dirty="0" smtClean="0"/>
          </a:p>
          <a:p>
            <a:r>
              <a:rPr lang="en-US" dirty="0" smtClean="0"/>
              <a:t>For next enter </a:t>
            </a:r>
            <a:r>
              <a:rPr lang="en-US" b="1" dirty="0" smtClean="0"/>
              <a:t>n</a:t>
            </a:r>
            <a:endParaRPr lang="en-US" b="1" dirty="0"/>
          </a:p>
          <a:p>
            <a:r>
              <a:rPr lang="en-US" dirty="0" smtClean="0"/>
              <a:t>To abort : </a:t>
            </a:r>
            <a:r>
              <a:rPr lang="en-US" dirty="0" smtClean="0"/>
              <a:t>ctrl C and then enter </a:t>
            </a:r>
            <a:r>
              <a:rPr lang="en-US" dirty="0" smtClean="0"/>
              <a:t>“a</a:t>
            </a:r>
            <a:r>
              <a:rPr lang="en-US" dirty="0" smtClean="0"/>
              <a:t>”</a:t>
            </a:r>
          </a:p>
          <a:p>
            <a:r>
              <a:rPr lang="en-IN" dirty="0" smtClean="0"/>
              <a:t>?-likes(Y</a:t>
            </a:r>
            <a:r>
              <a:rPr lang="en-IN" dirty="0"/>
              <a:t>, pizza</a:t>
            </a:r>
            <a:r>
              <a:rPr lang="en-IN" dirty="0" smtClean="0"/>
              <a:t>).</a:t>
            </a:r>
          </a:p>
          <a:p>
            <a:r>
              <a:rPr lang="en-IN" dirty="0"/>
              <a:t> ?- family_tree1:listing.</a:t>
            </a:r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8407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24128" y="27729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likes(john, </a:t>
            </a:r>
            <a:r>
              <a:rPr lang="en-IN" dirty="0" err="1" smtClean="0"/>
              <a:t>mary</a:t>
            </a:r>
            <a:r>
              <a:rPr lang="en-IN" dirty="0" smtClean="0"/>
              <a:t>). </a:t>
            </a:r>
            <a:endParaRPr lang="en-IN" dirty="0"/>
          </a:p>
          <a:p>
            <a:r>
              <a:rPr lang="en-IN" dirty="0" smtClean="0"/>
              <a:t>likes(</a:t>
            </a:r>
            <a:r>
              <a:rPr lang="en-IN" dirty="0" err="1" smtClean="0"/>
              <a:t>mary</a:t>
            </a:r>
            <a:r>
              <a:rPr lang="en-IN" dirty="0" smtClean="0"/>
              <a:t>, jay).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1323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14400" y="1138535"/>
            <a:ext cx="6096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Ex1</a:t>
            </a:r>
          </a:p>
          <a:p>
            <a:r>
              <a:rPr lang="en-US" b="1" dirty="0" smtClean="0"/>
              <a:t>Consult likes.pl</a:t>
            </a:r>
            <a:endParaRPr lang="en-IN" b="1" dirty="0" smtClean="0"/>
          </a:p>
          <a:p>
            <a:r>
              <a:rPr lang="en-IN" dirty="0" smtClean="0"/>
              <a:t>likes(john</a:t>
            </a:r>
            <a:r>
              <a:rPr lang="en-IN" dirty="0"/>
              <a:t>, pizza). </a:t>
            </a:r>
            <a:endParaRPr lang="en-IN" dirty="0" smtClean="0"/>
          </a:p>
          <a:p>
            <a:r>
              <a:rPr lang="en-IN" dirty="0" smtClean="0"/>
              <a:t>likes(john</a:t>
            </a:r>
            <a:r>
              <a:rPr lang="en-IN" dirty="0"/>
              <a:t>, pasta). </a:t>
            </a:r>
            <a:endParaRPr lang="en-IN" dirty="0" smtClean="0"/>
          </a:p>
          <a:p>
            <a:r>
              <a:rPr lang="en-IN" dirty="0" smtClean="0"/>
              <a:t>likes(</a:t>
            </a:r>
            <a:r>
              <a:rPr lang="en-IN" dirty="0" err="1" smtClean="0"/>
              <a:t>mary</a:t>
            </a:r>
            <a:r>
              <a:rPr lang="en-IN" dirty="0"/>
              <a:t>, sushi). </a:t>
            </a:r>
            <a:endParaRPr lang="en-IN" dirty="0" smtClean="0"/>
          </a:p>
          <a:p>
            <a:r>
              <a:rPr lang="en-IN" dirty="0" smtClean="0"/>
              <a:t>likes(</a:t>
            </a:r>
            <a:r>
              <a:rPr lang="en-IN" dirty="0" err="1" smtClean="0"/>
              <a:t>mary</a:t>
            </a:r>
            <a:r>
              <a:rPr lang="en-IN" dirty="0"/>
              <a:t>, pizza). </a:t>
            </a:r>
            <a:endParaRPr lang="en-IN" dirty="0" smtClean="0"/>
          </a:p>
          <a:p>
            <a:r>
              <a:rPr lang="en-IN" dirty="0" smtClean="0"/>
              <a:t>likes(X</a:t>
            </a:r>
            <a:r>
              <a:rPr lang="en-IN" dirty="0"/>
              <a:t>, Y) :- likes(X, Z), likes(Z, Y</a:t>
            </a:r>
            <a:r>
              <a:rPr lang="en-IN" dirty="0" smtClean="0"/>
              <a:t>).    </a:t>
            </a:r>
            <a:r>
              <a:rPr lang="en-IN" dirty="0"/>
              <a:t>% A simple </a:t>
            </a:r>
            <a:r>
              <a:rPr lang="en-IN" dirty="0" smtClean="0"/>
              <a:t>rule</a:t>
            </a:r>
          </a:p>
          <a:p>
            <a:endParaRPr lang="en-US" dirty="0" smtClean="0"/>
          </a:p>
          <a:p>
            <a:r>
              <a:rPr lang="en-US" dirty="0"/>
              <a:t>?- </a:t>
            </a:r>
            <a:r>
              <a:rPr lang="en-US" dirty="0" err="1">
                <a:solidFill>
                  <a:srgbClr val="FF0000"/>
                </a:solidFill>
              </a:rPr>
              <a:t>source_file</a:t>
            </a:r>
            <a:r>
              <a:rPr lang="en-US" dirty="0" smtClean="0">
                <a:solidFill>
                  <a:srgbClr val="FF0000"/>
                </a:solidFill>
              </a:rPr>
              <a:t>(‘likes.pl'). % is it loaded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smtClean="0"/>
              <a:t>listing(likes) % to view contents</a:t>
            </a:r>
          </a:p>
          <a:p>
            <a:r>
              <a:rPr lang="en-IN" dirty="0" smtClean="0"/>
              <a:t>?-</a:t>
            </a:r>
            <a:r>
              <a:rPr lang="en-IN" dirty="0"/>
              <a:t>write('\33\[2J</a:t>
            </a:r>
            <a:r>
              <a:rPr lang="en-IN" dirty="0" smtClean="0"/>
              <a:t>'). %</a:t>
            </a:r>
            <a:r>
              <a:rPr lang="en-US" dirty="0" smtClean="0"/>
              <a:t> </a:t>
            </a:r>
            <a:r>
              <a:rPr lang="en-US" dirty="0"/>
              <a:t>To clear a screen</a:t>
            </a:r>
            <a:endParaRPr lang="en-IN" dirty="0"/>
          </a:p>
          <a:p>
            <a:endParaRPr lang="en-IN" dirty="0"/>
          </a:p>
          <a:p>
            <a:endParaRPr lang="en-US" dirty="0" smtClean="0"/>
          </a:p>
          <a:p>
            <a:endParaRPr lang="en-US" dirty="0"/>
          </a:p>
          <a:p>
            <a:r>
              <a:rPr lang="en-IN" dirty="0"/>
              <a:t>?- likes(</a:t>
            </a:r>
            <a:r>
              <a:rPr lang="en-IN" dirty="0" err="1"/>
              <a:t>mary</a:t>
            </a:r>
            <a:r>
              <a:rPr lang="en-IN" dirty="0"/>
              <a:t>, X</a:t>
            </a:r>
            <a:r>
              <a:rPr lang="en-IN" dirty="0" smtClean="0"/>
              <a:t>). % to query</a:t>
            </a:r>
          </a:p>
          <a:p>
            <a:endParaRPr lang="en-US" dirty="0"/>
          </a:p>
          <a:p>
            <a:r>
              <a:rPr lang="en-US" dirty="0" smtClean="0"/>
              <a:t>To abort : enter “a”</a:t>
            </a:r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16273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70688"/>
            <a:ext cx="5086350" cy="50387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5209413"/>
            <a:ext cx="4638675" cy="14001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3086" y="0"/>
            <a:ext cx="5067300" cy="34480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3086" y="3504438"/>
            <a:ext cx="5019675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256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1408" y="926592"/>
            <a:ext cx="6815328" cy="4998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254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735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Ex2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3771" y="1939893"/>
            <a:ext cx="2457450" cy="37814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108960" y="968283"/>
            <a:ext cx="855878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Arial" panose="020B0604020202020204" pitchFamily="34" charset="0"/>
              </a:rPr>
              <a:t>The whole family tree of </a:t>
            </a:r>
            <a:r>
              <a:rPr lang="en-US" dirty="0">
                <a:latin typeface="Arial" panose="020B0604020202020204" pitchFamily="34" charset="0"/>
              </a:rPr>
              <a:t>Figure1 .</a:t>
            </a:r>
            <a:r>
              <a:rPr lang="en-US" dirty="0" smtClean="0">
                <a:latin typeface="Arial" panose="020B0604020202020204" pitchFamily="34" charset="0"/>
              </a:rPr>
              <a:t>1 </a:t>
            </a:r>
            <a:r>
              <a:rPr lang="en-US" dirty="0" err="1" smtClean="0">
                <a:latin typeface="Arial" panose="020B0604020202020204" pitchFamily="34" charset="0"/>
              </a:rPr>
              <a:t>i</a:t>
            </a:r>
            <a:r>
              <a:rPr lang="en-US" dirty="0" smtClean="0">
                <a:latin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</a:rPr>
              <a:t>s </a:t>
            </a:r>
            <a:r>
              <a:rPr lang="en-US" dirty="0" smtClean="0">
                <a:latin typeface="Arial" panose="020B0604020202020204" pitchFamily="34" charset="0"/>
              </a:rPr>
              <a:t>defined by the </a:t>
            </a:r>
            <a:r>
              <a:rPr lang="en-IN" dirty="0" smtClean="0">
                <a:latin typeface="Arial" panose="020B0604020202020204" pitchFamily="34" charset="0"/>
              </a:rPr>
              <a:t>following </a:t>
            </a:r>
            <a:r>
              <a:rPr lang="en-IN" dirty="0" err="1">
                <a:latin typeface="Arial" panose="020B0604020202020204" pitchFamily="34" charset="0"/>
              </a:rPr>
              <a:t>Prolog</a:t>
            </a:r>
            <a:r>
              <a:rPr lang="en-IN" dirty="0">
                <a:latin typeface="Arial" panose="020B0604020202020204" pitchFamily="34" charset="0"/>
              </a:rPr>
              <a:t> program:</a:t>
            </a:r>
          </a:p>
          <a:p>
            <a:r>
              <a:rPr lang="en-IN" dirty="0">
                <a:latin typeface="Arial" panose="020B0604020202020204" pitchFamily="34" charset="0"/>
              </a:rPr>
              <a:t>parent( pam, bob).</a:t>
            </a:r>
          </a:p>
          <a:p>
            <a:r>
              <a:rPr lang="en-IN" dirty="0">
                <a:latin typeface="Arial" panose="020B0604020202020204" pitchFamily="34" charset="0"/>
              </a:rPr>
              <a:t>parent( tom, bob).</a:t>
            </a:r>
          </a:p>
          <a:p>
            <a:r>
              <a:rPr lang="en-IN" dirty="0">
                <a:latin typeface="Arial" panose="020B0604020202020204" pitchFamily="34" charset="0"/>
              </a:rPr>
              <a:t>parent( tom, </a:t>
            </a:r>
            <a:r>
              <a:rPr lang="en-IN" dirty="0" err="1">
                <a:latin typeface="Arial" panose="020B0604020202020204" pitchFamily="34" charset="0"/>
              </a:rPr>
              <a:t>liz</a:t>
            </a:r>
            <a:r>
              <a:rPr lang="en-IN" dirty="0">
                <a:latin typeface="Arial" panose="020B0604020202020204" pitchFamily="34" charset="0"/>
              </a:rPr>
              <a:t>).</a:t>
            </a:r>
          </a:p>
          <a:p>
            <a:r>
              <a:rPr lang="en-IN" dirty="0">
                <a:latin typeface="Arial" panose="020B0604020202020204" pitchFamily="34" charset="0"/>
              </a:rPr>
              <a:t>parent( bob, </a:t>
            </a:r>
            <a:r>
              <a:rPr lang="en-IN" dirty="0" err="1">
                <a:latin typeface="Arial" panose="020B0604020202020204" pitchFamily="34" charset="0"/>
              </a:rPr>
              <a:t>ann</a:t>
            </a:r>
            <a:r>
              <a:rPr lang="en-IN" dirty="0">
                <a:latin typeface="Arial" panose="020B0604020202020204" pitchFamily="34" charset="0"/>
              </a:rPr>
              <a:t>).</a:t>
            </a:r>
          </a:p>
          <a:p>
            <a:r>
              <a:rPr lang="en-IN" dirty="0">
                <a:latin typeface="Arial" panose="020B0604020202020204" pitchFamily="34" charset="0"/>
              </a:rPr>
              <a:t>parent( bob, pat).</a:t>
            </a:r>
          </a:p>
          <a:p>
            <a:r>
              <a:rPr lang="en-IN" dirty="0">
                <a:latin typeface="Arial" panose="020B0604020202020204" pitchFamily="34" charset="0"/>
              </a:rPr>
              <a:t>parent( pat, </a:t>
            </a:r>
            <a:r>
              <a:rPr lang="en-IN" dirty="0" err="1">
                <a:latin typeface="Arial" panose="020B0604020202020204" pitchFamily="34" charset="0"/>
              </a:rPr>
              <a:t>jim</a:t>
            </a:r>
            <a:r>
              <a:rPr lang="en-IN" dirty="0">
                <a:latin typeface="Arial" panose="020B0604020202020204" pitchFamily="34" charset="0"/>
              </a:rPr>
              <a:t>).</a:t>
            </a:r>
          </a:p>
          <a:p>
            <a:r>
              <a:rPr lang="en-US" dirty="0">
                <a:latin typeface="Arial" panose="020B0604020202020204" pitchFamily="34" charset="0"/>
              </a:rPr>
              <a:t>This </a:t>
            </a:r>
            <a:r>
              <a:rPr lang="en-US" dirty="0" smtClean="0">
                <a:latin typeface="Arial" panose="020B0604020202020204" pitchFamily="34" charset="0"/>
              </a:rPr>
              <a:t>program consists of </a:t>
            </a:r>
            <a:r>
              <a:rPr lang="en-US" dirty="0">
                <a:latin typeface="Arial" panose="020B0604020202020204" pitchFamily="34" charset="0"/>
              </a:rPr>
              <a:t>six </a:t>
            </a:r>
            <a:r>
              <a:rPr lang="en-US" dirty="0" smtClean="0">
                <a:latin typeface="Arial" panose="020B0604020202020204" pitchFamily="34" charset="0"/>
              </a:rPr>
              <a:t>clauses. Each of these clauses declare one </a:t>
            </a:r>
            <a:r>
              <a:rPr lang="en-US" dirty="0">
                <a:latin typeface="Arial" panose="020B0604020202020204" pitchFamily="34" charset="0"/>
              </a:rPr>
              <a:t>fact</a:t>
            </a:r>
          </a:p>
          <a:p>
            <a:r>
              <a:rPr lang="en-IN" dirty="0">
                <a:latin typeface="Arial" panose="020B0604020202020204" pitchFamily="34" charset="0"/>
              </a:rPr>
              <a:t>about the parent relation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108960" y="5351986"/>
            <a:ext cx="2223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Arial" panose="020B0604020202020204" pitchFamily="34" charset="0"/>
              </a:rPr>
              <a:t>?- parent( bob, pat).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3108960" y="6224762"/>
            <a:ext cx="18902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latin typeface="Arial" panose="020B0604020202020204" pitchFamily="34" charset="0"/>
              </a:rPr>
              <a:t>?- parent( X, </a:t>
            </a:r>
            <a:r>
              <a:rPr lang="en-IN" dirty="0" err="1">
                <a:latin typeface="Arial" panose="020B0604020202020204" pitchFamily="34" charset="0"/>
              </a:rPr>
              <a:t>liz</a:t>
            </a:r>
            <a:r>
              <a:rPr lang="en-IN" dirty="0">
                <a:latin typeface="Arial" panose="020B0604020202020204" pitchFamily="34" charset="0"/>
              </a:rPr>
              <a:t>).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3352800" y="3755136"/>
            <a:ext cx="34819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Store file as family.pl   </a:t>
            </a:r>
          </a:p>
          <a:p>
            <a:r>
              <a:rPr lang="en-US" dirty="0" smtClean="0"/>
              <a:t>Consult and display ?listing(family)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8999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37632" y="560832"/>
            <a:ext cx="5380471" cy="610819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16" y="1426464"/>
            <a:ext cx="2254568" cy="23652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54624" y="167116"/>
            <a:ext cx="25115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Arial" panose="020B0604020202020204" pitchFamily="34" charset="0"/>
              </a:rPr>
              <a:t>?- parent( X, </a:t>
            </a:r>
            <a:r>
              <a:rPr lang="en-IN" dirty="0" err="1">
                <a:latin typeface="Arial" panose="020B0604020202020204" pitchFamily="34" charset="0"/>
              </a:rPr>
              <a:t>liz</a:t>
            </a:r>
            <a:r>
              <a:rPr lang="en-IN" dirty="0">
                <a:latin typeface="Arial" panose="020B0604020202020204" pitchFamily="34" charset="0"/>
              </a:rPr>
              <a:t>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9422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344" y="0"/>
            <a:ext cx="5803392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728" y="0"/>
            <a:ext cx="58353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665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Misc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To clear a screen</a:t>
            </a: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?-write</a:t>
            </a:r>
            <a:r>
              <a:rPr lang="en-IN" dirty="0"/>
              <a:t>('\33\[2J').</a:t>
            </a:r>
          </a:p>
        </p:txBody>
      </p:sp>
    </p:spTree>
    <p:extLst>
      <p:ext uri="{BB962C8B-B14F-4D97-AF65-F5344CB8AC3E}">
        <p14:creationId xmlns:p14="http://schemas.microsoft.com/office/powerpoint/2010/main" val="2229397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</TotalTime>
  <Words>355</Words>
  <Application>Microsoft Office PowerPoint</Application>
  <PresentationFormat>Widescreen</PresentationFormat>
  <Paragraphs>75</Paragraphs>
  <Slides>11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     Prolog</vt:lpstr>
      <vt:lpstr>   Prolog – Get Started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Ex2</vt:lpstr>
      <vt:lpstr>PowerPoint Presentation</vt:lpstr>
      <vt:lpstr>PowerPoint Presentation</vt:lpstr>
      <vt:lpstr>Misc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Prof. P. N. KUMAR</dc:creator>
  <cp:lastModifiedBy>Prof. P. N. KUMAR</cp:lastModifiedBy>
  <cp:revision>18</cp:revision>
  <dcterms:created xsi:type="dcterms:W3CDTF">2026-07-01T09:33:09Z</dcterms:created>
  <dcterms:modified xsi:type="dcterms:W3CDTF">2026-07-21T11:03:20Z</dcterms:modified>
</cp:coreProperties>
</file>